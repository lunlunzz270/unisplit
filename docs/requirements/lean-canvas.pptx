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96"/>
    <p:restoredTop sz="94638"/>
  </p:normalViewPr>
  <p:slideViewPr>
    <p:cSldViewPr snapToObjects="1">
      <p:cViewPr varScale="1">
        <p:scale>
          <a:sx n="128" d="100"/>
          <a:sy n="128" d="100"/>
        </p:scale>
        <p:origin x="648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n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80830" y="1066800"/>
            <a:ext cx="2159170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1108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2689643" y="1066800"/>
            <a:ext cx="2159170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1108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5006387" y="1066800"/>
            <a:ext cx="2159170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1108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321263" y="1056067"/>
            <a:ext cx="2159170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1108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9644069" y="1056067"/>
            <a:ext cx="2159170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1108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380830" y="2965800"/>
            <a:ext cx="2159170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1108"/>
            </a:lvl1pPr>
          </a:lstStyle>
          <a:p>
            <a:pPr lvl="0"/>
            <a:endParaRPr lang="en-GB" dirty="0"/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2703636" y="2965800"/>
            <a:ext cx="2159170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1108" baseline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2449" y="2965800"/>
            <a:ext cx="2159170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1108"/>
            </a:lvl1pPr>
          </a:lstStyle>
          <a:p>
            <a:pPr lvl="0"/>
            <a:endParaRPr lang="en-GB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7325635" y="2965800"/>
            <a:ext cx="2159170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1108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9644069" y="2965563"/>
            <a:ext cx="2159170" cy="15300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1108"/>
            </a:lvl1pPr>
          </a:lstStyle>
          <a:p>
            <a:pPr lvl="0"/>
            <a:endParaRPr lang="en-GB" dirty="0"/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380830" y="4876800"/>
            <a:ext cx="5613570" cy="14478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1108" baseline="0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23200" y="4876800"/>
            <a:ext cx="5580041" cy="1447800"/>
          </a:xfrm>
          <a:prstGeom prst="rect">
            <a:avLst/>
          </a:prstGeom>
          <a:solidFill>
            <a:srgbClr val="FFFFFF"/>
          </a:solidFill>
        </p:spPr>
        <p:txBody>
          <a:bodyPr vert="horz"/>
          <a:lstStyle>
            <a:lvl1pPr marL="0" indent="0">
              <a:buNone/>
              <a:defRPr sz="1108"/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876800" y="381000"/>
            <a:ext cx="17272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1108" baseline="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997170" y="381000"/>
            <a:ext cx="17272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1108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4"/>
          </p:nvPr>
        </p:nvSpPr>
        <p:spPr>
          <a:xfrm>
            <a:off x="9550400" y="381000"/>
            <a:ext cx="14224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1108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8"/>
          <p:cNvSpPr>
            <a:spLocks noGrp="1"/>
          </p:cNvSpPr>
          <p:nvPr>
            <p:ph type="body" sz="quarter" idx="25"/>
          </p:nvPr>
        </p:nvSpPr>
        <p:spPr>
          <a:xfrm>
            <a:off x="11379200" y="381000"/>
            <a:ext cx="508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/>
          <a:lstStyle>
            <a:lvl1pPr marL="0" indent="0">
              <a:buNone/>
              <a:defRPr sz="1108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424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AB96660-2B9D-AC33-0571-B2FB6D14B2EE}"/>
              </a:ext>
            </a:extLst>
          </p:cNvPr>
          <p:cNvSpPr/>
          <p:nvPr userDrawn="1"/>
        </p:nvSpPr>
        <p:spPr>
          <a:xfrm>
            <a:off x="301625" y="762000"/>
            <a:ext cx="11577638" cy="563880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1027" name="TextBox 6">
            <a:extLst>
              <a:ext uri="{FF2B5EF4-FFF2-40B4-BE49-F238E27FC236}">
                <a16:creationId xmlns:a16="http://schemas.microsoft.com/office/drawing/2014/main" id="{D0EA7C1A-356F-D3A5-BAE8-A62CAF59B60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4800" y="304800"/>
            <a:ext cx="2540000" cy="3952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1969" b="1">
                <a:latin typeface="Arial" charset="0"/>
                <a:cs typeface="Arial" charset="0"/>
              </a:rPr>
              <a:t>The Lean Canvas</a:t>
            </a:r>
          </a:p>
        </p:txBody>
      </p:sp>
      <p:sp>
        <p:nvSpPr>
          <p:cNvPr id="1028" name="TextBox 7">
            <a:extLst>
              <a:ext uri="{FF2B5EF4-FFF2-40B4-BE49-F238E27FC236}">
                <a16:creationId xmlns:a16="http://schemas.microsoft.com/office/drawing/2014/main" id="{85DA562A-ABF5-00BC-8A62-5751C0C0570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51388" y="184150"/>
            <a:ext cx="1727200" cy="2254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862" i="1">
                <a:latin typeface="Arial" charset="0"/>
                <a:cs typeface="Arial" charset="0"/>
              </a:rPr>
              <a:t>Designed for:</a:t>
            </a:r>
          </a:p>
        </p:txBody>
      </p:sp>
      <p:sp>
        <p:nvSpPr>
          <p:cNvPr id="1029" name="TextBox 8">
            <a:extLst>
              <a:ext uri="{FF2B5EF4-FFF2-40B4-BE49-F238E27FC236}">
                <a16:creationId xmlns:a16="http://schemas.microsoft.com/office/drawing/2014/main" id="{46EE16AD-B56D-89F1-B1C6-AC536A4587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875463" y="180975"/>
            <a:ext cx="1727200" cy="2254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862" i="1">
                <a:latin typeface="Arial" charset="0"/>
                <a:cs typeface="Arial" charset="0"/>
              </a:rPr>
              <a:t>Designed by:</a:t>
            </a:r>
          </a:p>
        </p:txBody>
      </p:sp>
      <p:sp>
        <p:nvSpPr>
          <p:cNvPr id="1030" name="TextBox 9">
            <a:extLst>
              <a:ext uri="{FF2B5EF4-FFF2-40B4-BE49-F238E27FC236}">
                <a16:creationId xmlns:a16="http://schemas.microsoft.com/office/drawing/2014/main" id="{7A9F1D32-A640-6ABF-5C52-86D39923190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432925" y="180975"/>
            <a:ext cx="1495425" cy="2254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862" i="1">
                <a:latin typeface="Arial" charset="0"/>
                <a:cs typeface="Arial" charset="0"/>
              </a:rPr>
              <a:t>Date:</a:t>
            </a:r>
          </a:p>
        </p:txBody>
      </p:sp>
      <p:sp>
        <p:nvSpPr>
          <p:cNvPr id="1031" name="TextBox 10">
            <a:extLst>
              <a:ext uri="{FF2B5EF4-FFF2-40B4-BE49-F238E27FC236}">
                <a16:creationId xmlns:a16="http://schemas.microsoft.com/office/drawing/2014/main" id="{88AB49C7-A6A7-4F3A-D007-FA9E6937966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52200" y="180975"/>
            <a:ext cx="763588" cy="2254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862" i="1">
                <a:latin typeface="Arial" charset="0"/>
                <a:cs typeface="Arial" charset="0"/>
              </a:rPr>
              <a:t>Version:</a:t>
            </a:r>
          </a:p>
        </p:txBody>
      </p:sp>
      <p:sp>
        <p:nvSpPr>
          <p:cNvPr id="1032" name="TextBox 11">
            <a:extLst>
              <a:ext uri="{FF2B5EF4-FFF2-40B4-BE49-F238E27FC236}">
                <a16:creationId xmlns:a16="http://schemas.microsoft.com/office/drawing/2014/main" id="{FC377183-1D1F-EBD2-ADE0-9FAEEB55961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1625" y="788988"/>
            <a:ext cx="2152650" cy="2809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1231" b="1">
                <a:latin typeface="Arial" charset="0"/>
                <a:cs typeface="Arial" charset="0"/>
              </a:rPr>
              <a:t>Problem</a:t>
            </a:r>
          </a:p>
        </p:txBody>
      </p:sp>
      <p:sp>
        <p:nvSpPr>
          <p:cNvPr id="1033" name="TextBox 12">
            <a:extLst>
              <a:ext uri="{FF2B5EF4-FFF2-40B4-BE49-F238E27FC236}">
                <a16:creationId xmlns:a16="http://schemas.microsoft.com/office/drawing/2014/main" id="{FE8AB457-280F-F796-B35B-A447B8C55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1625" y="2649538"/>
            <a:ext cx="2152650" cy="2809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1231" b="1">
                <a:latin typeface="Arial" charset="0"/>
                <a:cs typeface="Arial" charset="0"/>
              </a:rPr>
              <a:t>Existing Alternatives</a:t>
            </a:r>
          </a:p>
        </p:txBody>
      </p:sp>
      <p:sp>
        <p:nvSpPr>
          <p:cNvPr id="1034" name="TextBox 13">
            <a:extLst>
              <a:ext uri="{FF2B5EF4-FFF2-40B4-BE49-F238E27FC236}">
                <a16:creationId xmlns:a16="http://schemas.microsoft.com/office/drawing/2014/main" id="{0F826A32-08F9-EC9A-A946-ED1F11E273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1625" y="4572000"/>
            <a:ext cx="2152650" cy="280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1231" b="1">
                <a:latin typeface="Arial" charset="0"/>
                <a:cs typeface="Arial" charset="0"/>
              </a:rPr>
              <a:t>Cost Structure</a:t>
            </a:r>
          </a:p>
        </p:txBody>
      </p:sp>
      <p:sp>
        <p:nvSpPr>
          <p:cNvPr id="1035" name="TextBox 14">
            <a:extLst>
              <a:ext uri="{FF2B5EF4-FFF2-40B4-BE49-F238E27FC236}">
                <a16:creationId xmlns:a16="http://schemas.microsoft.com/office/drawing/2014/main" id="{C6B054A1-7641-B16C-B56E-59D2AC8AD3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14613" y="788988"/>
            <a:ext cx="2154237" cy="2809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1231" b="1">
                <a:latin typeface="Arial" charset="0"/>
                <a:cs typeface="Arial" charset="0"/>
              </a:rPr>
              <a:t>Solution</a:t>
            </a:r>
          </a:p>
        </p:txBody>
      </p:sp>
      <p:sp>
        <p:nvSpPr>
          <p:cNvPr id="1036" name="TextBox 15">
            <a:extLst>
              <a:ext uri="{FF2B5EF4-FFF2-40B4-BE49-F238E27FC236}">
                <a16:creationId xmlns:a16="http://schemas.microsoft.com/office/drawing/2014/main" id="{A59BBDE7-F1BB-2FD2-43A4-C40E9506885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14613" y="2649538"/>
            <a:ext cx="2154237" cy="2809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1231" b="1">
                <a:latin typeface="Arial" charset="0"/>
                <a:cs typeface="Arial" charset="0"/>
              </a:rPr>
              <a:t>Key Metrics</a:t>
            </a:r>
          </a:p>
        </p:txBody>
      </p:sp>
      <p:sp>
        <p:nvSpPr>
          <p:cNvPr id="1037" name="TextBox 16">
            <a:extLst>
              <a:ext uri="{FF2B5EF4-FFF2-40B4-BE49-F238E27FC236}">
                <a16:creationId xmlns:a16="http://schemas.microsoft.com/office/drawing/2014/main" id="{A22159BF-3F1C-B96E-7B35-E7C8A52CDD7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54588" y="788988"/>
            <a:ext cx="2154237" cy="2809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1231" b="1">
                <a:latin typeface="Arial" charset="0"/>
                <a:cs typeface="Arial" charset="0"/>
              </a:rPr>
              <a:t>Unique Value Prop.</a:t>
            </a:r>
          </a:p>
        </p:txBody>
      </p:sp>
      <p:sp>
        <p:nvSpPr>
          <p:cNvPr id="1038" name="TextBox 17">
            <a:extLst>
              <a:ext uri="{FF2B5EF4-FFF2-40B4-BE49-F238E27FC236}">
                <a16:creationId xmlns:a16="http://schemas.microsoft.com/office/drawing/2014/main" id="{579D8AB0-FBEF-90C0-415F-A841762181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54588" y="2649538"/>
            <a:ext cx="2154237" cy="2809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1231" b="1">
                <a:latin typeface="Arial" charset="0"/>
                <a:cs typeface="Arial" charset="0"/>
              </a:rPr>
              <a:t>High-Level Concept</a:t>
            </a:r>
          </a:p>
        </p:txBody>
      </p:sp>
      <p:sp>
        <p:nvSpPr>
          <p:cNvPr id="1039" name="TextBox 18">
            <a:extLst>
              <a:ext uri="{FF2B5EF4-FFF2-40B4-BE49-F238E27FC236}">
                <a16:creationId xmlns:a16="http://schemas.microsoft.com/office/drawing/2014/main" id="{DBDAE86C-DB1A-4906-A148-CE4878FA2EA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286625" y="782638"/>
            <a:ext cx="2152650" cy="2809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1231" b="1">
                <a:latin typeface="Arial" charset="0"/>
                <a:cs typeface="Arial" charset="0"/>
              </a:rPr>
              <a:t>Unfair Advantage</a:t>
            </a:r>
          </a:p>
        </p:txBody>
      </p:sp>
      <p:sp>
        <p:nvSpPr>
          <p:cNvPr id="1040" name="TextBox 19">
            <a:extLst>
              <a:ext uri="{FF2B5EF4-FFF2-40B4-BE49-F238E27FC236}">
                <a16:creationId xmlns:a16="http://schemas.microsoft.com/office/drawing/2014/main" id="{B0411757-FF21-B9E1-DB35-EDFBF75B79B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286625" y="2643188"/>
            <a:ext cx="2152650" cy="2809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1231" b="1">
                <a:latin typeface="Arial" charset="0"/>
                <a:cs typeface="Arial" charset="0"/>
              </a:rPr>
              <a:t>Channels</a:t>
            </a:r>
          </a:p>
        </p:txBody>
      </p:sp>
      <p:sp>
        <p:nvSpPr>
          <p:cNvPr id="1041" name="TextBox 20">
            <a:extLst>
              <a:ext uri="{FF2B5EF4-FFF2-40B4-BE49-F238E27FC236}">
                <a16:creationId xmlns:a16="http://schemas.microsoft.com/office/drawing/2014/main" id="{16C066A9-F7C5-81B6-827E-0C8C4324BAF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23425" y="788988"/>
            <a:ext cx="2152650" cy="2809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1231" b="1">
                <a:latin typeface="Arial" charset="0"/>
                <a:cs typeface="Arial" charset="0"/>
              </a:rPr>
              <a:t>Customer Segments</a:t>
            </a:r>
          </a:p>
        </p:txBody>
      </p:sp>
      <p:sp>
        <p:nvSpPr>
          <p:cNvPr id="1042" name="TextBox 21">
            <a:extLst>
              <a:ext uri="{FF2B5EF4-FFF2-40B4-BE49-F238E27FC236}">
                <a16:creationId xmlns:a16="http://schemas.microsoft.com/office/drawing/2014/main" id="{3295AC0F-6D2E-8700-6319-30EFCAB8AB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23425" y="2649538"/>
            <a:ext cx="2152650" cy="2809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1231" b="1">
                <a:latin typeface="Arial" charset="0"/>
                <a:cs typeface="Arial" charset="0"/>
              </a:rPr>
              <a:t>Early Adopters</a:t>
            </a:r>
          </a:p>
        </p:txBody>
      </p:sp>
      <p:sp>
        <p:nvSpPr>
          <p:cNvPr id="1043" name="TextBox 22">
            <a:extLst>
              <a:ext uri="{FF2B5EF4-FFF2-40B4-BE49-F238E27FC236}">
                <a16:creationId xmlns:a16="http://schemas.microsoft.com/office/drawing/2014/main" id="{283A1551-56BC-B711-88DA-DCDB2FBFF0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121400" y="4572000"/>
            <a:ext cx="2152650" cy="2809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GB" sz="1231" b="1">
                <a:latin typeface="Arial" charset="0"/>
                <a:cs typeface="Arial" charset="0"/>
              </a:rPr>
              <a:t>Revenue Streams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5C854E-0152-D527-9AC2-3F0BCA03BA8C}"/>
              </a:ext>
            </a:extLst>
          </p:cNvPr>
          <p:cNvSpPr/>
          <p:nvPr userDrawn="1"/>
        </p:nvSpPr>
        <p:spPr>
          <a:xfrm>
            <a:off x="301625" y="762000"/>
            <a:ext cx="2312988" cy="381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79B24B-219E-52CA-A55D-A4D9F62AB5BB}"/>
              </a:ext>
            </a:extLst>
          </p:cNvPr>
          <p:cNvSpPr/>
          <p:nvPr userDrawn="1"/>
        </p:nvSpPr>
        <p:spPr>
          <a:xfrm>
            <a:off x="2614613" y="760413"/>
            <a:ext cx="2314575" cy="188277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DD700A-8ADA-CFF2-6485-F2DAFEA613DD}"/>
              </a:ext>
            </a:extLst>
          </p:cNvPr>
          <p:cNvSpPr/>
          <p:nvPr userDrawn="1"/>
        </p:nvSpPr>
        <p:spPr>
          <a:xfrm>
            <a:off x="2614613" y="2643188"/>
            <a:ext cx="2314575" cy="1928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882A6C-2E74-E185-F088-F846460CE35F}"/>
              </a:ext>
            </a:extLst>
          </p:cNvPr>
          <p:cNvSpPr/>
          <p:nvPr userDrawn="1"/>
        </p:nvSpPr>
        <p:spPr>
          <a:xfrm>
            <a:off x="4929188" y="762000"/>
            <a:ext cx="2312987" cy="381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5B102E-799F-BBDD-3CD1-293F7C30FA77}"/>
              </a:ext>
            </a:extLst>
          </p:cNvPr>
          <p:cNvSpPr/>
          <p:nvPr userDrawn="1"/>
        </p:nvSpPr>
        <p:spPr>
          <a:xfrm>
            <a:off x="7242175" y="762000"/>
            <a:ext cx="2314575" cy="1882775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9A2EDC-443C-04BF-4A4B-FB86C6C7A144}"/>
              </a:ext>
            </a:extLst>
          </p:cNvPr>
          <p:cNvSpPr/>
          <p:nvPr userDrawn="1"/>
        </p:nvSpPr>
        <p:spPr>
          <a:xfrm>
            <a:off x="7242175" y="2643188"/>
            <a:ext cx="2314575" cy="192881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0D8185-7048-4F9D-BBC6-679B9B891807}"/>
              </a:ext>
            </a:extLst>
          </p:cNvPr>
          <p:cNvSpPr/>
          <p:nvPr userDrawn="1"/>
        </p:nvSpPr>
        <p:spPr>
          <a:xfrm>
            <a:off x="9564688" y="762000"/>
            <a:ext cx="2314575" cy="381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4A6B73-DA56-0180-6E06-DA8095F8D29B}"/>
              </a:ext>
            </a:extLst>
          </p:cNvPr>
          <p:cNvSpPr/>
          <p:nvPr userDrawn="1"/>
        </p:nvSpPr>
        <p:spPr>
          <a:xfrm>
            <a:off x="301625" y="4579938"/>
            <a:ext cx="5800725" cy="182086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24D7D89-E015-12B3-0182-4728A8B8BFB4}"/>
              </a:ext>
            </a:extLst>
          </p:cNvPr>
          <p:cNvSpPr/>
          <p:nvPr userDrawn="1"/>
        </p:nvSpPr>
        <p:spPr>
          <a:xfrm>
            <a:off x="6102350" y="4579938"/>
            <a:ext cx="5775325" cy="1820862"/>
          </a:xfrm>
          <a:prstGeom prst="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dirty="0"/>
          </a:p>
        </p:txBody>
      </p:sp>
      <p:pic>
        <p:nvPicPr>
          <p:cNvPr id="1053" name="Picture 37" descr="channels.png">
            <a:extLst>
              <a:ext uri="{FF2B5EF4-FFF2-40B4-BE49-F238E27FC236}">
                <a16:creationId xmlns:a16="http://schemas.microsoft.com/office/drawing/2014/main" id="{2CB3658F-E41B-E9B9-5F6B-84B32BD8591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0" y="2625725"/>
            <a:ext cx="3556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4" name="Picture 38" descr="cost-structure.png">
            <a:extLst>
              <a:ext uri="{FF2B5EF4-FFF2-40B4-BE49-F238E27FC236}">
                <a16:creationId xmlns:a16="http://schemas.microsoft.com/office/drawing/2014/main" id="{17FC53EC-9C87-4646-2D43-17F6336DAA7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7375" y="4572000"/>
            <a:ext cx="3556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5" name="Picture 39" descr="customer-segments.png">
            <a:extLst>
              <a:ext uri="{FF2B5EF4-FFF2-40B4-BE49-F238E27FC236}">
                <a16:creationId xmlns:a16="http://schemas.microsoft.com/office/drawing/2014/main" id="{F3D4467D-284D-7F7E-9BFD-E757C93808E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0313" y="762000"/>
            <a:ext cx="3556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6" name="Picture 40" descr="early-adopters.png">
            <a:extLst>
              <a:ext uri="{FF2B5EF4-FFF2-40B4-BE49-F238E27FC236}">
                <a16:creationId xmlns:a16="http://schemas.microsoft.com/office/drawing/2014/main" id="{8A74F99F-3F28-5388-8BB1-44989CCB59D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0313" y="2606675"/>
            <a:ext cx="3556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7" name="Picture 41" descr="existing-alternatives.png">
            <a:extLst>
              <a:ext uri="{FF2B5EF4-FFF2-40B4-BE49-F238E27FC236}">
                <a16:creationId xmlns:a16="http://schemas.microsoft.com/office/drawing/2014/main" id="{E66EDA0E-4E1C-A7AB-C734-D829FE55032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3" y="2625725"/>
            <a:ext cx="354012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8" name="Picture 42" descr="high-level-concept.png">
            <a:extLst>
              <a:ext uri="{FF2B5EF4-FFF2-40B4-BE49-F238E27FC236}">
                <a16:creationId xmlns:a16="http://schemas.microsoft.com/office/drawing/2014/main" id="{0CDEB906-D665-F8AA-9C00-EC674647A07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788" y="2625725"/>
            <a:ext cx="3556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9" name="Picture 44" descr="key-metrics.png">
            <a:extLst>
              <a:ext uri="{FF2B5EF4-FFF2-40B4-BE49-F238E27FC236}">
                <a16:creationId xmlns:a16="http://schemas.microsoft.com/office/drawing/2014/main" id="{0C0E278D-BD01-7F8E-3A11-1AAE1368A29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625725"/>
            <a:ext cx="355600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0" name="Picture 45" descr="problem.png">
            <a:extLst>
              <a:ext uri="{FF2B5EF4-FFF2-40B4-BE49-F238E27FC236}">
                <a16:creationId xmlns:a16="http://schemas.microsoft.com/office/drawing/2014/main" id="{1813031F-AF98-7CE2-0230-EF1AA7411B9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3" y="762000"/>
            <a:ext cx="354012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1" name="Picture 46" descr="revenue-streams.png">
            <a:extLst>
              <a:ext uri="{FF2B5EF4-FFF2-40B4-BE49-F238E27FC236}">
                <a16:creationId xmlns:a16="http://schemas.microsoft.com/office/drawing/2014/main" id="{6DD8EB16-2E3B-FE9B-C2B8-9FE4880EC7B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0313" y="4572000"/>
            <a:ext cx="3556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2" name="Picture 47" descr="solution.png">
            <a:extLst>
              <a:ext uri="{FF2B5EF4-FFF2-40B4-BE49-F238E27FC236}">
                <a16:creationId xmlns:a16="http://schemas.microsoft.com/office/drawing/2014/main" id="{A8B8B7CD-C3E7-1B29-399C-7E8719D6F38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768350"/>
            <a:ext cx="3556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3" name="Picture 48" descr="unfair-advantage.png">
            <a:extLst>
              <a:ext uri="{FF2B5EF4-FFF2-40B4-BE49-F238E27FC236}">
                <a16:creationId xmlns:a16="http://schemas.microsoft.com/office/drawing/2014/main" id="{68C01A57-BE0C-DF8E-3037-92DE8B1F599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0" y="762000"/>
            <a:ext cx="3556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64" name="Picture 49" descr="unique-value-proposition.png">
            <a:extLst>
              <a:ext uri="{FF2B5EF4-FFF2-40B4-BE49-F238E27FC236}">
                <a16:creationId xmlns:a16="http://schemas.microsoft.com/office/drawing/2014/main" id="{E4732615-8214-E673-A5B5-E1D76FB440B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788" y="762000"/>
            <a:ext cx="3556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561975" rtl="0" eaLnBrk="0" fontAlgn="base" hangingPunct="0">
        <a:spcBef>
          <a:spcPct val="0"/>
        </a:spcBef>
        <a:spcAft>
          <a:spcPct val="0"/>
        </a:spcAft>
        <a:defRPr sz="54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561975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Arial" charset="0"/>
          <a:ea typeface="ＭＳ Ｐゴシック" charset="0"/>
          <a:cs typeface="Arial" panose="020B0604020202020204" pitchFamily="34" charset="0"/>
        </a:defRPr>
      </a:lvl2pPr>
      <a:lvl3pPr algn="ctr" defTabSz="561975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Arial" charset="0"/>
          <a:ea typeface="ＭＳ Ｐゴシック" charset="0"/>
          <a:cs typeface="Arial" panose="020B0604020202020204" pitchFamily="34" charset="0"/>
        </a:defRPr>
      </a:lvl3pPr>
      <a:lvl4pPr algn="ctr" defTabSz="561975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Arial" charset="0"/>
          <a:ea typeface="ＭＳ Ｐゴシック" charset="0"/>
          <a:cs typeface="Arial" panose="020B0604020202020204" pitchFamily="34" charset="0"/>
        </a:defRPr>
      </a:lvl4pPr>
      <a:lvl5pPr algn="ctr" defTabSz="561975" rtl="0" eaLnBrk="0" fontAlgn="base" hangingPunct="0">
        <a:spcBef>
          <a:spcPct val="0"/>
        </a:spcBef>
        <a:spcAft>
          <a:spcPct val="0"/>
        </a:spcAft>
        <a:defRPr sz="5400">
          <a:solidFill>
            <a:schemeClr val="tx1"/>
          </a:solidFill>
          <a:latin typeface="Arial" charset="0"/>
          <a:ea typeface="ＭＳ Ｐゴシック" charset="0"/>
          <a:cs typeface="Arial" panose="020B0604020202020204" pitchFamily="34" charset="0"/>
        </a:defRPr>
      </a:lvl5pPr>
      <a:lvl6pPr marL="562722" algn="ctr" defTabSz="562722" rtl="0" fontAlgn="base">
        <a:spcBef>
          <a:spcPct val="0"/>
        </a:spcBef>
        <a:spcAft>
          <a:spcPct val="0"/>
        </a:spcAft>
        <a:defRPr sz="5416">
          <a:solidFill>
            <a:schemeClr val="tx1"/>
          </a:solidFill>
          <a:latin typeface="Arial" charset="0"/>
          <a:ea typeface="ＭＳ Ｐゴシック" charset="0"/>
        </a:defRPr>
      </a:lvl6pPr>
      <a:lvl7pPr marL="1125444" algn="ctr" defTabSz="562722" rtl="0" fontAlgn="base">
        <a:spcBef>
          <a:spcPct val="0"/>
        </a:spcBef>
        <a:spcAft>
          <a:spcPct val="0"/>
        </a:spcAft>
        <a:defRPr sz="5416">
          <a:solidFill>
            <a:schemeClr val="tx1"/>
          </a:solidFill>
          <a:latin typeface="Arial" charset="0"/>
          <a:ea typeface="ＭＳ Ｐゴシック" charset="0"/>
        </a:defRPr>
      </a:lvl7pPr>
      <a:lvl8pPr marL="1688165" algn="ctr" defTabSz="562722" rtl="0" fontAlgn="base">
        <a:spcBef>
          <a:spcPct val="0"/>
        </a:spcBef>
        <a:spcAft>
          <a:spcPct val="0"/>
        </a:spcAft>
        <a:defRPr sz="5416">
          <a:solidFill>
            <a:schemeClr val="tx1"/>
          </a:solidFill>
          <a:latin typeface="Arial" charset="0"/>
          <a:ea typeface="ＭＳ Ｐゴシック" charset="0"/>
        </a:defRPr>
      </a:lvl8pPr>
      <a:lvl9pPr marL="2250887" algn="ctr" defTabSz="562722" rtl="0" fontAlgn="base">
        <a:spcBef>
          <a:spcPct val="0"/>
        </a:spcBef>
        <a:spcAft>
          <a:spcPct val="0"/>
        </a:spcAft>
        <a:defRPr sz="5416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20688" indent="-420688" algn="l" defTabSz="56197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9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14400" indent="-350838" algn="l" defTabSz="56197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4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406525" indent="-280988" algn="l" defTabSz="56197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1968500" indent="-280988" algn="l" defTabSz="56197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532063" indent="-280988" algn="l" defTabSz="56197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094970" indent="-281361" algn="l" defTabSz="562722" rtl="0" eaLnBrk="1" latinLnBrk="0" hangingPunct="1">
        <a:spcBef>
          <a:spcPct val="20000"/>
        </a:spcBef>
        <a:buFont typeface="Arial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562722" rtl="0" eaLnBrk="1" latinLnBrk="0" hangingPunct="1">
        <a:spcBef>
          <a:spcPct val="20000"/>
        </a:spcBef>
        <a:buFont typeface="Arial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562722" rtl="0" eaLnBrk="1" latinLnBrk="0" hangingPunct="1">
        <a:spcBef>
          <a:spcPct val="20000"/>
        </a:spcBef>
        <a:buFont typeface="Arial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562722" rtl="0" eaLnBrk="1" latinLnBrk="0" hangingPunct="1">
        <a:spcBef>
          <a:spcPct val="20000"/>
        </a:spcBef>
        <a:buFont typeface="Arial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272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56272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56272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56272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56272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56272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56272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56272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562722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eoschronos.com" TargetMode="External"/><Relationship Id="rId2" Type="http://schemas.openxmlformats.org/officeDocument/2006/relationships/hyperlink" Target="http://www.businessmodelgeneration.com/canvas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Text Placeholder 52">
            <a:extLst>
              <a:ext uri="{FF2B5EF4-FFF2-40B4-BE49-F238E27FC236}">
                <a16:creationId xmlns:a16="http://schemas.microsoft.com/office/drawing/2014/main" id="{4E8DEAB6-6EEA-C6CE-61EC-2172CC925C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347663" y="1090613"/>
            <a:ext cx="2159000" cy="1550987"/>
          </a:xfrm>
        </p:spPr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1. </a:t>
            </a:r>
            <a:r>
              <a:rPr lang="en-US" sz="800" b="1" dirty="0"/>
              <a:t>Social Friction:</a:t>
            </a:r>
            <a:r>
              <a:rPr lang="en-US" sz="800" dirty="0"/>
              <a:t> The "awkwardness" and anxiety of manually reminding friends to pay back money.</a:t>
            </a:r>
          </a:p>
          <a:p>
            <a:br>
              <a:rPr lang="en-US" sz="800" dirty="0"/>
            </a:br>
            <a:r>
              <a:rPr lang="en-US" sz="800" dirty="0"/>
              <a:t>2. </a:t>
            </a:r>
            <a:r>
              <a:rPr lang="en-US" sz="800" b="1" dirty="0"/>
              <a:t>Calculation Complexity:</a:t>
            </a:r>
            <a:r>
              <a:rPr lang="en-US" sz="800" dirty="0"/>
              <a:t> Difficulty tracking multi-day trip expenses with cross-payments and different split ratios.</a:t>
            </a:r>
          </a:p>
          <a:p>
            <a:br>
              <a:rPr lang="en-US" sz="800" dirty="0"/>
            </a:br>
            <a:r>
              <a:rPr lang="en-US" sz="800" dirty="0"/>
              <a:t>3. </a:t>
            </a:r>
            <a:r>
              <a:rPr lang="en-US" sz="800" b="1" dirty="0"/>
              <a:t>Payment Delays:</a:t>
            </a:r>
            <a:r>
              <a:rPr lang="en-US" sz="800" dirty="0"/>
              <a:t> Shared bills often remain unpaid for weeks due to a lack of systematic tracking.</a:t>
            </a:r>
          </a:p>
        </p:txBody>
      </p:sp>
      <p:sp>
        <p:nvSpPr>
          <p:cNvPr id="2050" name="Text Placeholder 53">
            <a:extLst>
              <a:ext uri="{FF2B5EF4-FFF2-40B4-BE49-F238E27FC236}">
                <a16:creationId xmlns:a16="http://schemas.microsoft.com/office/drawing/2014/main" id="{4D0C4021-F1A0-92C1-45FA-08F10E6694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auto">
          <a:xfrm>
            <a:off x="2682875" y="1039813"/>
            <a:ext cx="2159000" cy="1550987"/>
          </a:xfrm>
        </p:spPr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1. </a:t>
            </a:r>
            <a:r>
              <a:rPr lang="en-US" sz="800" b="1" dirty="0"/>
              <a:t>Automated "Polite Nudge" System:</a:t>
            </a:r>
            <a:r>
              <a:rPr lang="en-US" sz="800" dirty="0"/>
              <a:t> Scheduled notifications that act as a neutral third party to request payments.</a:t>
            </a:r>
          </a:p>
          <a:p>
            <a:br>
              <a:rPr lang="en-US" sz="800" dirty="0"/>
            </a:br>
            <a:r>
              <a:rPr lang="en-US" sz="800" dirty="0"/>
              <a:t>2. </a:t>
            </a:r>
            <a:r>
              <a:rPr lang="en-US" sz="800" b="1" dirty="0"/>
              <a:t>Multi-Day Trip Manager:</a:t>
            </a:r>
            <a:r>
              <a:rPr lang="en-US" sz="800" dirty="0"/>
              <a:t> Specialized logic to aggregate and simplify complex travel expenses into one final balance.</a:t>
            </a:r>
          </a:p>
          <a:p>
            <a:br>
              <a:rPr lang="en-US" sz="800" dirty="0"/>
            </a:br>
            <a:r>
              <a:rPr lang="en-US" sz="800" dirty="0"/>
              <a:t>3. </a:t>
            </a:r>
            <a:r>
              <a:rPr lang="en-US" sz="800" b="1" dirty="0"/>
              <a:t>Direct Payment Integration:</a:t>
            </a:r>
            <a:r>
              <a:rPr lang="en-US" sz="800" dirty="0"/>
              <a:t> Seamless links to apps like Venmo or </a:t>
            </a:r>
            <a:r>
              <a:rPr lang="en-US" sz="800" dirty="0" err="1"/>
              <a:t>Zelle</a:t>
            </a:r>
            <a:r>
              <a:rPr lang="en-US" sz="800" dirty="0"/>
              <a:t> to settle debts instantly.</a:t>
            </a:r>
          </a:p>
        </p:txBody>
      </p:sp>
      <p:sp>
        <p:nvSpPr>
          <p:cNvPr id="2051" name="Text Placeholder 54">
            <a:extLst>
              <a:ext uri="{FF2B5EF4-FFF2-40B4-BE49-F238E27FC236}">
                <a16:creationId xmlns:a16="http://schemas.microsoft.com/office/drawing/2014/main" id="{1B27143B-7ED2-4FAE-5656-0221FC4083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auto">
          <a:xfrm>
            <a:off x="5002213" y="1058863"/>
            <a:ext cx="2159000" cy="1484312"/>
          </a:xfrm>
        </p:spPr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pPr defTabSz="562722" eaLnBrk="1" hangingPunct="1">
              <a:defRPr/>
            </a:pPr>
            <a:r>
              <a:rPr lang="en-US" sz="800" b="1" dirty="0"/>
              <a:t>"Split Bills, Not Friendships."</a:t>
            </a:r>
            <a:r>
              <a:rPr lang="en-US" sz="800" dirty="0"/>
              <a:t> A fintech solution designed to remove the social burden of shared expenses through financial automation.</a:t>
            </a:r>
            <a:endParaRPr lang="en-GB" altLang="en-US" sz="8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52" name="Text Placeholder 55">
            <a:extLst>
              <a:ext uri="{FF2B5EF4-FFF2-40B4-BE49-F238E27FC236}">
                <a16:creationId xmlns:a16="http://schemas.microsoft.com/office/drawing/2014/main" id="{555B81FE-EA53-606F-6945-18C3834088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auto">
          <a:xfrm>
            <a:off x="7296150" y="1039813"/>
            <a:ext cx="2159000" cy="1550987"/>
          </a:xfrm>
        </p:spPr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pPr defTabSz="562722" eaLnBrk="1" hangingPunct="1">
              <a:defRPr/>
            </a:pPr>
            <a:r>
              <a:rPr lang="en-US" sz="800" b="1" dirty="0"/>
              <a:t>Proprietary Nudge Logic:</a:t>
            </a:r>
            <a:r>
              <a:rPr lang="en-US" sz="800" dirty="0"/>
              <a:t> A specialized communication algorithm designed specifically for student social dynamics to maintain "politeness" while ensuring recovery.</a:t>
            </a:r>
            <a:endParaRPr lang="en-GB" altLang="en-US" sz="8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53" name="Text Placeholder 56">
            <a:extLst>
              <a:ext uri="{FF2B5EF4-FFF2-40B4-BE49-F238E27FC236}">
                <a16:creationId xmlns:a16="http://schemas.microsoft.com/office/drawing/2014/main" id="{CFE083FE-6897-497E-8F34-251F3E06A7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auto">
          <a:xfrm>
            <a:off x="9652000" y="1050925"/>
            <a:ext cx="2159000" cy="1492250"/>
          </a:xfrm>
        </p:spPr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1. </a:t>
            </a:r>
            <a:r>
              <a:rPr lang="en-US" sz="800" b="1" dirty="0"/>
              <a:t>College Students:</a:t>
            </a:r>
            <a:r>
              <a:rPr lang="en-US" sz="800" dirty="0"/>
              <a:t> Active social lives involving frequent group dining and outings.</a:t>
            </a:r>
          </a:p>
          <a:p>
            <a:br>
              <a:rPr lang="en-US" sz="800" dirty="0"/>
            </a:br>
            <a:r>
              <a:rPr lang="en-US" sz="800" dirty="0"/>
              <a:t>2. </a:t>
            </a:r>
            <a:r>
              <a:rPr lang="en-US" sz="800" b="1" dirty="0"/>
              <a:t>Student Travelers:</a:t>
            </a:r>
            <a:r>
              <a:rPr lang="en-US" sz="800" dirty="0"/>
              <a:t> Groups planning Spring Break or weekend road trips.</a:t>
            </a:r>
          </a:p>
          <a:p>
            <a:br>
              <a:rPr lang="en-US" sz="800" dirty="0"/>
            </a:br>
            <a:r>
              <a:rPr lang="en-US" sz="800" dirty="0"/>
              <a:t>3. </a:t>
            </a:r>
            <a:r>
              <a:rPr lang="en-US" sz="800" b="1" dirty="0"/>
              <a:t>Off-Campus Roommates:</a:t>
            </a:r>
            <a:r>
              <a:rPr lang="en-US" sz="800" dirty="0"/>
              <a:t> Students managing shared household utilities and rent.</a:t>
            </a:r>
          </a:p>
        </p:txBody>
      </p:sp>
      <p:sp>
        <p:nvSpPr>
          <p:cNvPr id="2054" name="Text Placeholder 57">
            <a:extLst>
              <a:ext uri="{FF2B5EF4-FFF2-40B4-BE49-F238E27FC236}">
                <a16:creationId xmlns:a16="http://schemas.microsoft.com/office/drawing/2014/main" id="{4C33DBA6-AB51-F6EB-24F3-5EDA1DA465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auto">
          <a:xfrm>
            <a:off x="381000" y="2859088"/>
            <a:ext cx="2159000" cy="1712912"/>
          </a:xfrm>
        </p:spPr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pPr defTabSz="562722" eaLnBrk="1" hangingPunct="1">
              <a:defRPr/>
            </a:pPr>
            <a:r>
              <a:rPr lang="en-US" sz="800" dirty="0" err="1"/>
              <a:t>Splitwise</a:t>
            </a:r>
            <a:r>
              <a:rPr lang="en-US" sz="800" dirty="0"/>
              <a:t> (generic), Venmo requests (manual), Excel spreadsheets, or "mental math" (often inaccurate).</a:t>
            </a:r>
            <a:endParaRPr lang="en-GB" altLang="en-US" sz="8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55" name="Text Placeholder 58">
            <a:extLst>
              <a:ext uri="{FF2B5EF4-FFF2-40B4-BE49-F238E27FC236}">
                <a16:creationId xmlns:a16="http://schemas.microsoft.com/office/drawing/2014/main" id="{64A5398F-5917-5D2C-1B0F-13566FD6BA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auto">
          <a:xfrm>
            <a:off x="2703513" y="2859088"/>
            <a:ext cx="2159000" cy="1712912"/>
          </a:xfrm>
        </p:spPr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1. </a:t>
            </a:r>
            <a:r>
              <a:rPr lang="en-US" sz="800" b="1" dirty="0"/>
              <a:t>Settlement Time:</a:t>
            </a:r>
            <a:r>
              <a:rPr lang="en-US" sz="800" dirty="0"/>
              <a:t> Average time taken from expense entry to final payment.</a:t>
            </a:r>
          </a:p>
          <a:p>
            <a:br>
              <a:rPr lang="en-US" sz="800" dirty="0"/>
            </a:br>
            <a:r>
              <a:rPr lang="en-US" sz="800" dirty="0"/>
              <a:t>2. </a:t>
            </a:r>
            <a:r>
              <a:rPr lang="en-US" sz="800" b="1" dirty="0"/>
              <a:t>User Retention:</a:t>
            </a:r>
            <a:r>
              <a:rPr lang="en-US" sz="800" dirty="0"/>
              <a:t> Percentage of users who start a second trip or bill cycle.</a:t>
            </a:r>
          </a:p>
          <a:p>
            <a:br>
              <a:rPr lang="en-US" sz="800" dirty="0"/>
            </a:br>
            <a:r>
              <a:rPr lang="en-US" sz="800" dirty="0"/>
              <a:t>3. </a:t>
            </a:r>
            <a:r>
              <a:rPr lang="en-US" sz="800" b="1" dirty="0"/>
              <a:t>Viral Coefficient:</a:t>
            </a:r>
            <a:r>
              <a:rPr lang="en-US" sz="800" dirty="0"/>
              <a:t> Number of new users invited per active "Group Creator."</a:t>
            </a:r>
          </a:p>
        </p:txBody>
      </p:sp>
      <p:sp>
        <p:nvSpPr>
          <p:cNvPr id="2056" name="Text Placeholder 59">
            <a:extLst>
              <a:ext uri="{FF2B5EF4-FFF2-40B4-BE49-F238E27FC236}">
                <a16:creationId xmlns:a16="http://schemas.microsoft.com/office/drawing/2014/main" id="{43EDD749-D353-CCD6-E841-4BBE41CB16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auto">
          <a:xfrm>
            <a:off x="5011738" y="2859088"/>
            <a:ext cx="2160587" cy="1701800"/>
          </a:xfrm>
        </p:spPr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pPr defTabSz="562722" eaLnBrk="1" hangingPunct="1">
              <a:defRPr/>
            </a:pPr>
            <a:r>
              <a:rPr lang="en-US" sz="800" dirty="0"/>
              <a:t>"</a:t>
            </a:r>
            <a:r>
              <a:rPr lang="en-US" sz="800" dirty="0" err="1"/>
              <a:t>Splitwise</a:t>
            </a:r>
            <a:r>
              <a:rPr lang="en-US" sz="800" dirty="0"/>
              <a:t> with a Social Brain."</a:t>
            </a:r>
            <a:endParaRPr lang="en-GB" altLang="en-US" sz="800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57" name="Text Placeholder 60">
            <a:extLst>
              <a:ext uri="{FF2B5EF4-FFF2-40B4-BE49-F238E27FC236}">
                <a16:creationId xmlns:a16="http://schemas.microsoft.com/office/drawing/2014/main" id="{BB28F863-39EB-E26F-3608-F115AD976D8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auto">
          <a:xfrm>
            <a:off x="7324725" y="2859088"/>
            <a:ext cx="2159000" cy="1636712"/>
          </a:xfrm>
        </p:spPr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1. </a:t>
            </a:r>
            <a:r>
              <a:rPr lang="en-US" sz="800" b="1" dirty="0"/>
              <a:t>Student Organizations:</a:t>
            </a:r>
            <a:r>
              <a:rPr lang="en-US" sz="800" dirty="0"/>
              <a:t> Partnerships with clubs and Greek life.</a:t>
            </a:r>
          </a:p>
          <a:p>
            <a:br>
              <a:rPr lang="en-US" sz="800" dirty="0"/>
            </a:br>
            <a:r>
              <a:rPr lang="en-US" sz="800" dirty="0"/>
              <a:t>2. </a:t>
            </a:r>
            <a:r>
              <a:rPr lang="en-US" sz="800" b="1" dirty="0"/>
              <a:t>Social Media:</a:t>
            </a:r>
            <a:r>
              <a:rPr lang="en-US" sz="800" dirty="0"/>
              <a:t> Targeted campaigns on Instagram/TikTok focusing on "relatable" awkward money moments.</a:t>
            </a:r>
          </a:p>
          <a:p>
            <a:br>
              <a:rPr lang="en-US" sz="800" dirty="0"/>
            </a:br>
            <a:r>
              <a:rPr lang="en-US" sz="800" dirty="0"/>
              <a:t>3. </a:t>
            </a:r>
            <a:r>
              <a:rPr lang="en-US" sz="800" b="1" dirty="0"/>
              <a:t>Referral Loops:</a:t>
            </a:r>
            <a:r>
              <a:rPr lang="en-US" sz="800" dirty="0"/>
              <a:t> "Invite your group" functionality required for app utility.</a:t>
            </a:r>
          </a:p>
        </p:txBody>
      </p:sp>
      <p:sp>
        <p:nvSpPr>
          <p:cNvPr id="2058" name="Text Placeholder 61">
            <a:extLst>
              <a:ext uri="{FF2B5EF4-FFF2-40B4-BE49-F238E27FC236}">
                <a16:creationId xmlns:a16="http://schemas.microsoft.com/office/drawing/2014/main" id="{B6F0800D-F87D-37DF-A5FE-E2AED998543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auto">
          <a:xfrm>
            <a:off x="9636125" y="2905125"/>
            <a:ext cx="2159000" cy="1562100"/>
          </a:xfrm>
        </p:spPr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1. Student leaders and "social chairs" who frequently organize group events.</a:t>
            </a:r>
          </a:p>
          <a:p>
            <a:br>
              <a:rPr lang="en-US" sz="800" dirty="0"/>
            </a:br>
            <a:r>
              <a:rPr lang="en-US" sz="800" dirty="0"/>
              <a:t>2. Groups of 3+ roommates living in shared apartments.</a:t>
            </a:r>
          </a:p>
        </p:txBody>
      </p:sp>
      <p:sp>
        <p:nvSpPr>
          <p:cNvPr id="2059" name="Text Placeholder 62">
            <a:extLst>
              <a:ext uri="{FF2B5EF4-FFF2-40B4-BE49-F238E27FC236}">
                <a16:creationId xmlns:a16="http://schemas.microsoft.com/office/drawing/2014/main" id="{1C7E19F0-C68C-6D57-5133-0B1F450762F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auto">
          <a:xfrm>
            <a:off x="381000" y="4875213"/>
            <a:ext cx="5613400" cy="1503362"/>
          </a:xfrm>
        </p:spPr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1. </a:t>
            </a:r>
            <a:r>
              <a:rPr lang="en-US" sz="800" b="1" dirty="0"/>
              <a:t>Cloud Hosting:</a:t>
            </a:r>
            <a:r>
              <a:rPr lang="en-US" sz="800" dirty="0"/>
              <a:t> Database and server maintenance (AWS/Google Cloud).</a:t>
            </a:r>
          </a:p>
          <a:p>
            <a:br>
              <a:rPr lang="en-US" sz="800" dirty="0"/>
            </a:br>
            <a:r>
              <a:rPr lang="en-US" sz="800" dirty="0"/>
              <a:t>2. </a:t>
            </a:r>
            <a:r>
              <a:rPr lang="en-US" sz="800" b="1" dirty="0"/>
              <a:t>Development:</a:t>
            </a:r>
            <a:r>
              <a:rPr lang="en-US" sz="800" dirty="0"/>
              <a:t> Software engineering for payment logic and UI/UX design.</a:t>
            </a:r>
          </a:p>
          <a:p>
            <a:br>
              <a:rPr lang="en-US" sz="800" dirty="0"/>
            </a:br>
            <a:r>
              <a:rPr lang="en-US" sz="800" dirty="0"/>
              <a:t>3. </a:t>
            </a:r>
            <a:r>
              <a:rPr lang="en-US" sz="800" b="1" dirty="0"/>
              <a:t>Marketing:</a:t>
            </a:r>
            <a:r>
              <a:rPr lang="en-US" sz="800" dirty="0"/>
              <a:t> Customer acquisition costs (CAC) through campus ambassadors.</a:t>
            </a:r>
          </a:p>
        </p:txBody>
      </p:sp>
      <p:sp>
        <p:nvSpPr>
          <p:cNvPr id="2060" name="Text Placeholder 63">
            <a:extLst>
              <a:ext uri="{FF2B5EF4-FFF2-40B4-BE49-F238E27FC236}">
                <a16:creationId xmlns:a16="http://schemas.microsoft.com/office/drawing/2014/main" id="{3A93AEDC-8DD8-940F-C278-5719FD1D37F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auto">
          <a:xfrm>
            <a:off x="6230938" y="4827588"/>
            <a:ext cx="5580062" cy="1550987"/>
          </a:xfrm>
        </p:spPr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r>
              <a:rPr lang="en-US" sz="800" dirty="0"/>
              <a:t>1. </a:t>
            </a:r>
            <a:r>
              <a:rPr lang="en-US" sz="800" b="1" dirty="0"/>
              <a:t>Premium Features:</a:t>
            </a:r>
            <a:r>
              <a:rPr lang="en-US" sz="800" dirty="0"/>
              <a:t> Advanced financial analytics or "Pro" trip planning tools.</a:t>
            </a:r>
          </a:p>
          <a:p>
            <a:br>
              <a:rPr lang="en-US" sz="800" dirty="0"/>
            </a:br>
            <a:r>
              <a:rPr lang="en-US" sz="800" dirty="0"/>
              <a:t>2. </a:t>
            </a:r>
            <a:r>
              <a:rPr lang="en-US" sz="800" b="1" dirty="0"/>
              <a:t>Merchant Partnerships:</a:t>
            </a:r>
            <a:r>
              <a:rPr lang="en-US" sz="800" dirty="0"/>
              <a:t> Local restaurant discounts offered when bills are settled via the app.</a:t>
            </a:r>
          </a:p>
          <a:p>
            <a:br>
              <a:rPr lang="en-US" sz="800" dirty="0"/>
            </a:br>
            <a:r>
              <a:rPr lang="en-US" sz="800" dirty="0"/>
              <a:t>3. </a:t>
            </a:r>
            <a:r>
              <a:rPr lang="en-US" sz="800" b="1" dirty="0"/>
              <a:t>Transaction Fees:</a:t>
            </a:r>
            <a:r>
              <a:rPr lang="en-US" sz="800" dirty="0"/>
              <a:t> Small convenience fees for instant "wallet-to-bank" transfers.</a:t>
            </a:r>
          </a:p>
        </p:txBody>
      </p:sp>
      <p:sp>
        <p:nvSpPr>
          <p:cNvPr id="2061" name="Text Placeholder 64">
            <a:extLst>
              <a:ext uri="{FF2B5EF4-FFF2-40B4-BE49-F238E27FC236}">
                <a16:creationId xmlns:a16="http://schemas.microsoft.com/office/drawing/2014/main" id="{DEFB9E78-500F-5DC7-D610-CE597F71F74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auto"/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pPr defTabSz="562722" eaLnBrk="1" hangingPunct="1">
              <a:defRPr/>
            </a:pPr>
            <a:r>
              <a:rPr lang="en-GB" altLang="en-US" dirty="0" err="1">
                <a:latin typeface="Arial" panose="020B0604020202020204" pitchFamily="34" charset="0"/>
                <a:ea typeface="ＭＳ Ｐゴシック" panose="020B0600070205080204" pitchFamily="34" charset="-128"/>
              </a:rPr>
              <a:t>UniSplit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62" name="Text Placeholder 65">
            <a:extLst>
              <a:ext uri="{FF2B5EF4-FFF2-40B4-BE49-F238E27FC236}">
                <a16:creationId xmlns:a16="http://schemas.microsoft.com/office/drawing/2014/main" id="{97103E34-AA05-2763-F4D1-E93973B927A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auto">
          <a:xfrm>
            <a:off x="7005638" y="381000"/>
            <a:ext cx="1727200" cy="280988"/>
          </a:xfrm>
        </p:spPr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pPr defTabSz="562722" eaLnBrk="1" hangingPunct="1">
              <a:defRPr/>
            </a:pP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63" name="Text Placeholder 66">
            <a:extLst>
              <a:ext uri="{FF2B5EF4-FFF2-40B4-BE49-F238E27FC236}">
                <a16:creationId xmlns:a16="http://schemas.microsoft.com/office/drawing/2014/main" id="{1F96D1F0-A9B9-532A-4910-199A8AE27CA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auto"/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pPr defTabSz="562722" eaLnBrk="1" hangingPunct="1">
              <a:defRPr/>
            </a:pPr>
            <a:r>
              <a:rPr lang="en-US" altLang="zh-CN" dirty="0">
                <a:latin typeface="Arial" panose="020B0604020202020204" pitchFamily="34" charset="0"/>
                <a:ea typeface="ＭＳ Ｐゴシック" panose="020B0600070205080204" pitchFamily="34" charset="-128"/>
              </a:rPr>
              <a:t>2026/3/1</a:t>
            </a:r>
            <a:endParaRPr lang="en-GB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64" name="Text Placeholder 67">
            <a:extLst>
              <a:ext uri="{FF2B5EF4-FFF2-40B4-BE49-F238E27FC236}">
                <a16:creationId xmlns:a16="http://schemas.microsoft.com/office/drawing/2014/main" id="{7A28CE9C-ED17-A030-8BE9-E160AA75F14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auto"/>
        <p:txBody>
          <a:bodyPr wrap="square" lIns="112542" tIns="56271" rIns="112542" bIns="56271" numCol="1" anchor="t" anchorCtr="0" compatLnSpc="1">
            <a:prstTxWarp prst="textNoShape">
              <a:avLst/>
            </a:prstTxWarp>
          </a:bodyPr>
          <a:lstStyle/>
          <a:p>
            <a:pPr defTabSz="562722" eaLnBrk="1" hangingPunct="1">
              <a:defRPr/>
            </a:pPr>
            <a:r>
              <a:rPr lang="en-GB" alt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1.0</a:t>
            </a:r>
          </a:p>
        </p:txBody>
      </p:sp>
      <p:sp>
        <p:nvSpPr>
          <p:cNvPr id="2065" name="Rectangle 51">
            <a:extLst>
              <a:ext uri="{FF2B5EF4-FFF2-40B4-BE49-F238E27FC236}">
                <a16:creationId xmlns:a16="http://schemas.microsoft.com/office/drawing/2014/main" id="{D40C6B21-315C-603C-76BD-E6EFBF3F2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6486525"/>
            <a:ext cx="11582400" cy="3571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defRPr/>
            </a:pPr>
            <a:r>
              <a:rPr lang="en-GB" altLang="en-US" sz="862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Lean Canvas is adapted from The Business Model Canvas (</a:t>
            </a:r>
            <a:r>
              <a:rPr lang="en-GB" altLang="en-US" sz="862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www.businessmodelgeneration.com/canvas</a:t>
            </a:r>
            <a:r>
              <a:rPr lang="en-GB" altLang="en-US" sz="862" dirty="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PowerPoint implementation by: Neos Chronos Limited </a:t>
            </a:r>
            <a:r>
              <a:rPr lang="en-GB" altLang="en-US" sz="862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GB" altLang="en-US" sz="862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https://neoschronos.com</a:t>
            </a:r>
            <a:r>
              <a:rPr lang="en-GB" altLang="en-US" sz="862" dirty="0">
                <a:latin typeface="Arial" panose="020B0604020202020204" pitchFamily="34" charset="0"/>
                <a:cs typeface="Arial" panose="020B0604020202020204" pitchFamily="34" charset="0"/>
              </a:rPr>
              <a:t>). License: </a:t>
            </a:r>
            <a:r>
              <a:rPr lang="mr-IN" altLang="en-US" sz="862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CC BY-SA 3.0</a:t>
            </a:r>
            <a:endParaRPr lang="mr-IN" altLang="en-US" sz="862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en-GB" altLang="en-US" sz="862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os Chronos">
      <a:dk1>
        <a:srgbClr val="444444"/>
      </a:dk1>
      <a:lt1>
        <a:sysClr val="window" lastClr="FFFFFF"/>
      </a:lt1>
      <a:dk2>
        <a:srgbClr val="222222"/>
      </a:dk2>
      <a:lt2>
        <a:srgbClr val="F3F3F3"/>
      </a:lt2>
      <a:accent1>
        <a:srgbClr val="669933"/>
      </a:accent1>
      <a:accent2>
        <a:srgbClr val="38BEEA"/>
      </a:accent2>
      <a:accent3>
        <a:srgbClr val="EA38C0"/>
      </a:accent3>
      <a:accent4>
        <a:srgbClr val="EABB38"/>
      </a:accent4>
      <a:accent5>
        <a:srgbClr val="788C92"/>
      </a:accent5>
      <a:accent6>
        <a:srgbClr val="EA6238"/>
      </a:accent6>
      <a:hlink>
        <a:srgbClr val="787828"/>
      </a:hlink>
      <a:folHlink>
        <a:srgbClr val="9AA2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504</Words>
  <Application>Microsoft Macintosh PowerPoint</Application>
  <PresentationFormat>Widescreen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Calibri</vt:lpstr>
      <vt:lpstr>ＭＳ Ｐゴシック</vt:lpstr>
      <vt:lpstr>Arial</vt:lpstr>
      <vt:lpstr>Aptos</vt:lpstr>
      <vt:lpstr>ui-sans-serif</vt:lpstr>
      <vt:lpstr>Office Theme</vt:lpstr>
      <vt:lpstr>PowerPoint Presentation</vt:lpstr>
    </vt:vector>
  </TitlesOfParts>
  <Manager/>
  <Company>Neos Chronos Limited</Company>
  <LinksUpToDate>false</LinksUpToDate>
  <SharedDoc>false</SharedDoc>
  <HyperlinkBase>https://neoschronos.com/assets/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 Canvas Template PPT</dc:title>
  <dc:subject/>
  <dc:creator>Thomas Papanikolaou</dc:creator>
  <cp:keywords>Lean Canvas, Template, Powerpoint, ppt, pptx, English, Free</cp:keywords>
  <dc:description>Lean Canvas is adapted from The Business Model Canvas (www.businessmodelgeneration.com/canvas). This work is licensed under the Creative Commons Attribution-Share Alike 3.0 Unported License.</dc:description>
  <cp:lastModifiedBy>jiehe wu</cp:lastModifiedBy>
  <cp:revision>36</cp:revision>
  <cp:lastPrinted>2019-04-01T19:25:48Z</cp:lastPrinted>
  <dcterms:created xsi:type="dcterms:W3CDTF">2019-04-01T16:49:19Z</dcterms:created>
  <dcterms:modified xsi:type="dcterms:W3CDTF">2026-03-01T22:31:21Z</dcterms:modified>
  <cp:category>PowerPoint Template PPT</cp:category>
</cp:coreProperties>
</file>